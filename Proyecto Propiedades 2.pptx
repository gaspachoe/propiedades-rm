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2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6858000" cy="9144000"/>
  <p:embeddedFontLst>
    <p:embeddedFont>
      <p:font typeface="Montserrat"/>
      <p:regular r:id="rId17"/>
      <p:bold r:id="rId18"/>
      <p:italic r:id="rId19"/>
      <p:boldItalic r:id="rId20"/>
    </p:embeddedFont>
    <p:embeddedFont>
      <p:font typeface="Montserrat Medium"/>
      <p:regular r:id="rId21"/>
      <p:bold r:id="rId22"/>
      <p:italic r:id="rId23"/>
      <p:boldItalic r:id="rId24"/>
    </p:embeddedFont>
    <p:embeddedFont>
      <p:font typeface="Montserrat ExtraLight"/>
      <p:regular r:id="rId25"/>
      <p:bold r:id="rId26"/>
      <p:italic r:id="rId27"/>
      <p:boldItalic r:id="rId28"/>
    </p:embeddedFont>
    <p:embeddedFont>
      <p:font typeface="Montserrat ExtraBold"/>
      <p:bold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Italic.fntdata"/><Relationship Id="rId22" Type="http://schemas.openxmlformats.org/officeDocument/2006/relationships/font" Target="fonts/MontserratMedium-bold.fntdata"/><Relationship Id="rId21" Type="http://schemas.openxmlformats.org/officeDocument/2006/relationships/font" Target="fonts/MontserratMedium-regular.fntdata"/><Relationship Id="rId24" Type="http://schemas.openxmlformats.org/officeDocument/2006/relationships/font" Target="fonts/MontserratMedium-boldItalic.fntdata"/><Relationship Id="rId23" Type="http://schemas.openxmlformats.org/officeDocument/2006/relationships/font" Target="fonts/MontserratMedium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MontserratExtraLight-bold.fntdata"/><Relationship Id="rId25" Type="http://schemas.openxmlformats.org/officeDocument/2006/relationships/font" Target="fonts/MontserratExtraLight-regular.fntdata"/><Relationship Id="rId28" Type="http://schemas.openxmlformats.org/officeDocument/2006/relationships/font" Target="fonts/MontserratExtraLight-boldItalic.fntdata"/><Relationship Id="rId27" Type="http://schemas.openxmlformats.org/officeDocument/2006/relationships/font" Target="fonts/MontserratExtraLight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MontserratExtraBold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0" Type="http://schemas.openxmlformats.org/officeDocument/2006/relationships/font" Target="fonts/MontserratExtraBold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Montserrat-regular.fntdata"/><Relationship Id="rId16" Type="http://schemas.openxmlformats.org/officeDocument/2006/relationships/slide" Target="slides/slide12.xml"/><Relationship Id="rId19" Type="http://schemas.openxmlformats.org/officeDocument/2006/relationships/font" Target="fonts/Montserrat-italic.fntdata"/><Relationship Id="rId18" Type="http://schemas.openxmlformats.org/officeDocument/2006/relationships/font" Target="fonts/Montserra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7f9262ee2f_0_26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7f9262ee2f_0_26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7f9262ee2f_0_26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7f9262ee2f_0_26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7290233416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729023341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7290233416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729023341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h20619471a65051a5_14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h20619471a65051a5_14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h20619471a65051a5_14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h20619471a65051a5_14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h79affbef6685d80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h79affbef6685d80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7f9262ee2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7f9262ee2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h79affbef6685d80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h79affbef6685d80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7290233416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729023341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7f9262ee2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7f9262ee2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hyperlink" Target="http://bit.ly/2Tynxth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2175900" y="1950100"/>
            <a:ext cx="4792200" cy="6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2044200" y="3704650"/>
            <a:ext cx="50556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3762670" y="3177750"/>
            <a:ext cx="3068700" cy="59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hasCustomPrompt="1" idx="2" type="title"/>
          </p:nvPr>
        </p:nvSpPr>
        <p:spPr>
          <a:xfrm>
            <a:off x="1048270" y="3287500"/>
            <a:ext cx="2412900" cy="931500"/>
          </a:xfrm>
          <a:prstGeom prst="rect">
            <a:avLst/>
          </a:prstGeom>
          <a:effectLst>
            <a:outerShdw blurRad="114300" rotWithShape="0" algn="bl" dir="6360000" dist="28575">
              <a:schemeClr val="accen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3762670" y="3720650"/>
            <a:ext cx="30687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4"/>
          <p:cNvSpPr txBox="1"/>
          <p:nvPr>
            <p:ph idx="1" type="body"/>
          </p:nvPr>
        </p:nvSpPr>
        <p:spPr>
          <a:xfrm>
            <a:off x="938500" y="1659275"/>
            <a:ext cx="4946400" cy="27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938500" y="1659275"/>
            <a:ext cx="3186900" cy="27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" name="Google Shape;21;p5"/>
          <p:cNvSpPr txBox="1"/>
          <p:nvPr>
            <p:ph idx="2" type="body"/>
          </p:nvPr>
        </p:nvSpPr>
        <p:spPr>
          <a:xfrm>
            <a:off x="5037525" y="1659275"/>
            <a:ext cx="3186900" cy="27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/>
          <p:nvPr>
            <p:ph type="title"/>
          </p:nvPr>
        </p:nvSpPr>
        <p:spPr>
          <a:xfrm>
            <a:off x="5337175" y="1297125"/>
            <a:ext cx="2837400" cy="125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" name="Google Shape;26;p7"/>
          <p:cNvSpPr txBox="1"/>
          <p:nvPr>
            <p:ph idx="1" type="body"/>
          </p:nvPr>
        </p:nvSpPr>
        <p:spPr>
          <a:xfrm>
            <a:off x="5337175" y="2593875"/>
            <a:ext cx="2837400" cy="125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indent="-3302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2pPr>
            <a:lvl3pPr indent="-3302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3pPr>
            <a:lvl4pPr indent="-3302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4pPr>
            <a:lvl5pPr indent="-3302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5pPr>
            <a:lvl6pPr indent="-3302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6pPr>
            <a:lvl7pPr indent="-3302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7pPr>
            <a:lvl8pPr indent="-3302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8pPr>
            <a:lvl9pPr indent="-3302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/>
          <p:nvPr>
            <p:ph type="title"/>
          </p:nvPr>
        </p:nvSpPr>
        <p:spPr>
          <a:xfrm>
            <a:off x="929477" y="436183"/>
            <a:ext cx="2746500" cy="409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29" name="Google Shape;2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3278924" y="414050"/>
            <a:ext cx="7626551" cy="2883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5400000">
            <a:off x="4822414" y="-351911"/>
            <a:ext cx="9309797" cy="352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/>
          <p:nvPr>
            <p:ph idx="1" type="subTitle"/>
          </p:nvPr>
        </p:nvSpPr>
        <p:spPr>
          <a:xfrm>
            <a:off x="938500" y="1769575"/>
            <a:ext cx="28716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3" name="Google Shape;33;p9"/>
          <p:cNvSpPr txBox="1"/>
          <p:nvPr>
            <p:ph idx="2" type="body"/>
          </p:nvPr>
        </p:nvSpPr>
        <p:spPr>
          <a:xfrm>
            <a:off x="4703375" y="909600"/>
            <a:ext cx="3468900" cy="3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" name="Google Shape;34;p9"/>
          <p:cNvSpPr txBox="1"/>
          <p:nvPr>
            <p:ph type="title"/>
          </p:nvPr>
        </p:nvSpPr>
        <p:spPr>
          <a:xfrm>
            <a:off x="938500" y="445025"/>
            <a:ext cx="32238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 txBox="1"/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 txBox="1"/>
          <p:nvPr>
            <p:ph hasCustomPrompt="1" type="title"/>
          </p:nvPr>
        </p:nvSpPr>
        <p:spPr>
          <a:xfrm>
            <a:off x="1920750" y="1634425"/>
            <a:ext cx="5302500" cy="11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9" name="Google Shape;39;p11"/>
          <p:cNvSpPr txBox="1"/>
          <p:nvPr>
            <p:ph idx="1" type="body"/>
          </p:nvPr>
        </p:nvSpPr>
        <p:spPr>
          <a:xfrm>
            <a:off x="2786550" y="3094475"/>
            <a:ext cx="3570900" cy="5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42900" lvl="1" marL="9144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  <a:defRPr sz="1800">
                <a:solidFill>
                  <a:schemeClr val="accent1"/>
                </a:solidFill>
              </a:defRPr>
            </a:lvl2pPr>
            <a:lvl3pPr indent="-342900" lvl="2" marL="13716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■"/>
              <a:defRPr sz="1800">
                <a:solidFill>
                  <a:schemeClr val="accent1"/>
                </a:solidFill>
              </a:defRPr>
            </a:lvl3pPr>
            <a:lvl4pPr indent="-342900" lvl="3" marL="18288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 sz="1800">
                <a:solidFill>
                  <a:schemeClr val="accent1"/>
                </a:solidFill>
              </a:defRPr>
            </a:lvl4pPr>
            <a:lvl5pPr indent="-342900" lvl="4" marL="22860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  <a:defRPr sz="1800">
                <a:solidFill>
                  <a:schemeClr val="accent1"/>
                </a:solidFill>
              </a:defRPr>
            </a:lvl5pPr>
            <a:lvl6pPr indent="-342900" lvl="5" marL="27432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■"/>
              <a:defRPr sz="1800">
                <a:solidFill>
                  <a:schemeClr val="accent1"/>
                </a:solidFill>
              </a:defRPr>
            </a:lvl6pPr>
            <a:lvl7pPr indent="-342900" lvl="6" marL="32004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 sz="1800">
                <a:solidFill>
                  <a:schemeClr val="accent1"/>
                </a:solidFill>
              </a:defRPr>
            </a:lvl7pPr>
            <a:lvl8pPr indent="-342900" lvl="7" marL="36576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  <a:defRPr sz="1800">
                <a:solidFill>
                  <a:schemeClr val="accent1"/>
                </a:solidFill>
              </a:defRPr>
            </a:lvl8pPr>
            <a:lvl9pPr indent="-342900" lvl="8" marL="4114800" algn="ctr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800"/>
              <a:buChar char="■"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ullet Points">
  <p:cSld name="CAPTION_ONLY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/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p13"/>
          <p:cNvSpPr txBox="1"/>
          <p:nvPr>
            <p:ph idx="1" type="body"/>
          </p:nvPr>
        </p:nvSpPr>
        <p:spPr>
          <a:xfrm>
            <a:off x="938500" y="1246025"/>
            <a:ext cx="7172100" cy="303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1625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1pPr>
            <a:lvl2pPr indent="-301625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2pPr>
            <a:lvl3pPr indent="-301625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3pPr>
            <a:lvl4pPr indent="-301625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4pPr>
            <a:lvl5pPr indent="-301625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5pPr>
            <a:lvl6pPr indent="-301625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6pPr>
            <a:lvl7pPr indent="-301625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7pPr>
            <a:lvl8pPr indent="-301625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8pPr>
            <a:lvl9pPr indent="-301625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SECTION_TITLE_AND_DESCRIPTION_1_1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/>
          <p:nvPr>
            <p:ph type="title"/>
          </p:nvPr>
        </p:nvSpPr>
        <p:spPr>
          <a:xfrm>
            <a:off x="3538497" y="26155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14"/>
          <p:cNvSpPr txBox="1"/>
          <p:nvPr>
            <p:ph idx="1" type="subTitle"/>
          </p:nvPr>
        </p:nvSpPr>
        <p:spPr>
          <a:xfrm>
            <a:off x="3538497" y="31480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14"/>
          <p:cNvSpPr txBox="1"/>
          <p:nvPr>
            <p:ph idx="2" type="title"/>
          </p:nvPr>
        </p:nvSpPr>
        <p:spPr>
          <a:xfrm>
            <a:off x="6028553" y="26155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14"/>
          <p:cNvSpPr txBox="1"/>
          <p:nvPr>
            <p:ph idx="3" type="subTitle"/>
          </p:nvPr>
        </p:nvSpPr>
        <p:spPr>
          <a:xfrm>
            <a:off x="6028553" y="31480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" name="Google Shape;49;p14"/>
          <p:cNvSpPr txBox="1"/>
          <p:nvPr>
            <p:ph idx="4" type="title"/>
          </p:nvPr>
        </p:nvSpPr>
        <p:spPr>
          <a:xfrm>
            <a:off x="1048447" y="26155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" name="Google Shape;50;p14"/>
          <p:cNvSpPr txBox="1"/>
          <p:nvPr>
            <p:ph idx="5" type="subTitle"/>
          </p:nvPr>
        </p:nvSpPr>
        <p:spPr>
          <a:xfrm>
            <a:off x="1048447" y="31480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14"/>
          <p:cNvSpPr txBox="1"/>
          <p:nvPr>
            <p:ph hasCustomPrompt="1" idx="6" type="title"/>
          </p:nvPr>
        </p:nvSpPr>
        <p:spPr>
          <a:xfrm>
            <a:off x="1048450" y="1770700"/>
            <a:ext cx="20670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2" name="Google Shape;52;p14"/>
          <p:cNvSpPr txBox="1"/>
          <p:nvPr>
            <p:ph hasCustomPrompt="1" idx="7" type="title"/>
          </p:nvPr>
        </p:nvSpPr>
        <p:spPr>
          <a:xfrm>
            <a:off x="3538500" y="1770700"/>
            <a:ext cx="20670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3" name="Google Shape;53;p14"/>
          <p:cNvSpPr txBox="1"/>
          <p:nvPr>
            <p:ph hasCustomPrompt="1" idx="8" type="title"/>
          </p:nvPr>
        </p:nvSpPr>
        <p:spPr>
          <a:xfrm>
            <a:off x="6028550" y="1770700"/>
            <a:ext cx="20670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ext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ctrTitle"/>
          </p:nvPr>
        </p:nvSpPr>
        <p:spPr>
          <a:xfrm>
            <a:off x="4285500" y="2832875"/>
            <a:ext cx="3657300" cy="644700"/>
          </a:xfrm>
          <a:prstGeom prst="rect">
            <a:avLst/>
          </a:prstGeom>
          <a:effectLst>
            <a:outerShdw blurRad="57150" rotWithShape="0" algn="bl" dir="5400000" dist="19050">
              <a:srgbClr val="76A5AF">
                <a:alpha val="88000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6" name="Google Shape;56;p15"/>
          <p:cNvSpPr txBox="1"/>
          <p:nvPr>
            <p:ph idx="1" type="subTitle"/>
          </p:nvPr>
        </p:nvSpPr>
        <p:spPr>
          <a:xfrm>
            <a:off x="4144050" y="3549850"/>
            <a:ext cx="39402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6"/>
          <p:cNvSpPr txBox="1"/>
          <p:nvPr>
            <p:ph type="ctrTitle"/>
          </p:nvPr>
        </p:nvSpPr>
        <p:spPr>
          <a:xfrm>
            <a:off x="1850525" y="1157925"/>
            <a:ext cx="5442900" cy="26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" name="Google Shape;59;p16"/>
          <p:cNvSpPr txBox="1"/>
          <p:nvPr>
            <p:ph idx="1" type="subTitle"/>
          </p:nvPr>
        </p:nvSpPr>
        <p:spPr>
          <a:xfrm>
            <a:off x="2481900" y="3945600"/>
            <a:ext cx="41802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wo Columns">
  <p:cSld name="SECTION_TITLE_AND_DESCRIPTION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7"/>
          <p:cNvSpPr txBox="1"/>
          <p:nvPr>
            <p:ph type="title"/>
          </p:nvPr>
        </p:nvSpPr>
        <p:spPr>
          <a:xfrm>
            <a:off x="1937338" y="2463175"/>
            <a:ext cx="23901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" name="Google Shape;62;p17"/>
          <p:cNvSpPr txBox="1"/>
          <p:nvPr>
            <p:ph idx="1" type="subTitle"/>
          </p:nvPr>
        </p:nvSpPr>
        <p:spPr>
          <a:xfrm>
            <a:off x="1937338" y="3148075"/>
            <a:ext cx="23901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3" name="Google Shape;63;p17"/>
          <p:cNvSpPr txBox="1"/>
          <p:nvPr>
            <p:ph idx="2" type="title"/>
          </p:nvPr>
        </p:nvSpPr>
        <p:spPr>
          <a:xfrm>
            <a:off x="4816563" y="2463175"/>
            <a:ext cx="23901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4" name="Google Shape;64;p17"/>
          <p:cNvSpPr txBox="1"/>
          <p:nvPr>
            <p:ph idx="3" type="subTitle"/>
          </p:nvPr>
        </p:nvSpPr>
        <p:spPr>
          <a:xfrm>
            <a:off x="4816563" y="3148075"/>
            <a:ext cx="23901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17"/>
          <p:cNvSpPr txBox="1"/>
          <p:nvPr>
            <p:ph idx="4"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hree Columns ">
  <p:cSld name="SECTION_TITLE_AND_DESCRIPTION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8"/>
          <p:cNvSpPr txBox="1"/>
          <p:nvPr>
            <p:ph type="title"/>
          </p:nvPr>
        </p:nvSpPr>
        <p:spPr>
          <a:xfrm>
            <a:off x="3538497" y="27679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" name="Google Shape;68;p18"/>
          <p:cNvSpPr txBox="1"/>
          <p:nvPr>
            <p:ph idx="1" type="subTitle"/>
          </p:nvPr>
        </p:nvSpPr>
        <p:spPr>
          <a:xfrm>
            <a:off x="3538497" y="34528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" name="Google Shape;69;p18"/>
          <p:cNvSpPr txBox="1"/>
          <p:nvPr>
            <p:ph idx="2" type="title"/>
          </p:nvPr>
        </p:nvSpPr>
        <p:spPr>
          <a:xfrm>
            <a:off x="6028553" y="27679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" name="Google Shape;70;p18"/>
          <p:cNvSpPr txBox="1"/>
          <p:nvPr>
            <p:ph idx="3" type="subTitle"/>
          </p:nvPr>
        </p:nvSpPr>
        <p:spPr>
          <a:xfrm>
            <a:off x="6028553" y="34528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" name="Google Shape;71;p18"/>
          <p:cNvSpPr txBox="1"/>
          <p:nvPr>
            <p:ph idx="4"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" name="Google Shape;72;p18"/>
          <p:cNvSpPr txBox="1"/>
          <p:nvPr>
            <p:ph idx="5" type="title"/>
          </p:nvPr>
        </p:nvSpPr>
        <p:spPr>
          <a:xfrm>
            <a:off x="1048447" y="27679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3" name="Google Shape;73;p18"/>
          <p:cNvSpPr txBox="1"/>
          <p:nvPr>
            <p:ph idx="6" type="subTitle"/>
          </p:nvPr>
        </p:nvSpPr>
        <p:spPr>
          <a:xfrm>
            <a:off x="1048447" y="34528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ext">
  <p:cSld name="TITLE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ctrTitle"/>
          </p:nvPr>
        </p:nvSpPr>
        <p:spPr>
          <a:xfrm>
            <a:off x="1273500" y="1369000"/>
            <a:ext cx="6597000" cy="21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b="1" sz="4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" name="Google Shape;76;p19"/>
          <p:cNvSpPr txBox="1"/>
          <p:nvPr>
            <p:ph idx="1" type="subTitle"/>
          </p:nvPr>
        </p:nvSpPr>
        <p:spPr>
          <a:xfrm>
            <a:off x="2481900" y="2519525"/>
            <a:ext cx="41802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">
  <p:cSld name="CAPTION_ONLY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1">
  <p:cSld name="CAPTION_ONLY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1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2">
  <p:cSld name="CAPTION_ONLY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2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3">
  <p:cSld name="CAPTION_ONLY_1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3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wo Lists">
  <p:cSld name="SECTION_TITLE_AND_DESCRIPTION_1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4"/>
          <p:cNvSpPr txBox="1"/>
          <p:nvPr>
            <p:ph type="title"/>
          </p:nvPr>
        </p:nvSpPr>
        <p:spPr>
          <a:xfrm>
            <a:off x="938500" y="445025"/>
            <a:ext cx="49647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7" name="Google Shape;87;p24"/>
          <p:cNvSpPr txBox="1"/>
          <p:nvPr>
            <p:ph idx="1" type="body"/>
          </p:nvPr>
        </p:nvSpPr>
        <p:spPr>
          <a:xfrm>
            <a:off x="1067241" y="2651775"/>
            <a:ext cx="3258900" cy="17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8" name="Google Shape;88;p24"/>
          <p:cNvSpPr txBox="1"/>
          <p:nvPr>
            <p:ph idx="2" type="body"/>
          </p:nvPr>
        </p:nvSpPr>
        <p:spPr>
          <a:xfrm>
            <a:off x="4673852" y="2651775"/>
            <a:ext cx="3258900" cy="17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24"/>
          <p:cNvSpPr txBox="1"/>
          <p:nvPr>
            <p:ph idx="3" type="title"/>
          </p:nvPr>
        </p:nvSpPr>
        <p:spPr>
          <a:xfrm>
            <a:off x="1213499" y="1955125"/>
            <a:ext cx="32589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24"/>
          <p:cNvSpPr txBox="1"/>
          <p:nvPr>
            <p:ph idx="4" type="title"/>
          </p:nvPr>
        </p:nvSpPr>
        <p:spPr>
          <a:xfrm>
            <a:off x="4820099" y="1955125"/>
            <a:ext cx="32589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Four Columns">
  <p:cSld name="TITLE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5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3" name="Google Shape;93;p25"/>
          <p:cNvSpPr txBox="1"/>
          <p:nvPr>
            <p:ph idx="2" type="title"/>
          </p:nvPr>
        </p:nvSpPr>
        <p:spPr>
          <a:xfrm>
            <a:off x="898386" y="3052625"/>
            <a:ext cx="16716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" name="Google Shape;94;p25"/>
          <p:cNvSpPr txBox="1"/>
          <p:nvPr>
            <p:ph idx="1" type="subTitle"/>
          </p:nvPr>
        </p:nvSpPr>
        <p:spPr>
          <a:xfrm>
            <a:off x="898389" y="3558837"/>
            <a:ext cx="1671600" cy="11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5" name="Google Shape;95;p25"/>
          <p:cNvSpPr txBox="1"/>
          <p:nvPr>
            <p:ph idx="3" type="title"/>
          </p:nvPr>
        </p:nvSpPr>
        <p:spPr>
          <a:xfrm>
            <a:off x="2790261" y="3052625"/>
            <a:ext cx="16716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" name="Google Shape;96;p25"/>
          <p:cNvSpPr txBox="1"/>
          <p:nvPr>
            <p:ph idx="4" type="subTitle"/>
          </p:nvPr>
        </p:nvSpPr>
        <p:spPr>
          <a:xfrm>
            <a:off x="2790264" y="3558837"/>
            <a:ext cx="1671600" cy="11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7" name="Google Shape;97;p25"/>
          <p:cNvSpPr txBox="1"/>
          <p:nvPr>
            <p:ph idx="5" type="title"/>
          </p:nvPr>
        </p:nvSpPr>
        <p:spPr>
          <a:xfrm>
            <a:off x="4682136" y="3052625"/>
            <a:ext cx="16716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8" name="Google Shape;98;p25"/>
          <p:cNvSpPr txBox="1"/>
          <p:nvPr>
            <p:ph idx="6" type="subTitle"/>
          </p:nvPr>
        </p:nvSpPr>
        <p:spPr>
          <a:xfrm>
            <a:off x="4682139" y="3558837"/>
            <a:ext cx="1671600" cy="11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25"/>
          <p:cNvSpPr txBox="1"/>
          <p:nvPr>
            <p:ph idx="7" type="title"/>
          </p:nvPr>
        </p:nvSpPr>
        <p:spPr>
          <a:xfrm>
            <a:off x="6574011" y="3052625"/>
            <a:ext cx="16716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0" name="Google Shape;100;p25"/>
          <p:cNvSpPr txBox="1"/>
          <p:nvPr>
            <p:ph idx="8" type="subTitle"/>
          </p:nvPr>
        </p:nvSpPr>
        <p:spPr>
          <a:xfrm>
            <a:off x="6574014" y="3558837"/>
            <a:ext cx="1671600" cy="11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Numbers">
  <p:cSld name="CAPTION_ONLY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6"/>
          <p:cNvSpPr txBox="1"/>
          <p:nvPr>
            <p:ph hasCustomPrompt="1" type="title"/>
          </p:nvPr>
        </p:nvSpPr>
        <p:spPr>
          <a:xfrm>
            <a:off x="4996800" y="661843"/>
            <a:ext cx="31593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3" name="Google Shape;103;p26"/>
          <p:cNvSpPr txBox="1"/>
          <p:nvPr>
            <p:ph idx="1" type="subTitle"/>
          </p:nvPr>
        </p:nvSpPr>
        <p:spPr>
          <a:xfrm>
            <a:off x="4911000" y="1265850"/>
            <a:ext cx="3330900" cy="4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04" name="Google Shape;104;p26"/>
          <p:cNvSpPr txBox="1"/>
          <p:nvPr>
            <p:ph hasCustomPrompt="1" idx="2" type="title"/>
          </p:nvPr>
        </p:nvSpPr>
        <p:spPr>
          <a:xfrm>
            <a:off x="4996800" y="2099193"/>
            <a:ext cx="31593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5" name="Google Shape;105;p26"/>
          <p:cNvSpPr txBox="1"/>
          <p:nvPr>
            <p:ph idx="3" type="subTitle"/>
          </p:nvPr>
        </p:nvSpPr>
        <p:spPr>
          <a:xfrm>
            <a:off x="4911000" y="2703200"/>
            <a:ext cx="3330900" cy="4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06" name="Google Shape;106;p26"/>
          <p:cNvSpPr txBox="1"/>
          <p:nvPr>
            <p:ph hasCustomPrompt="1" idx="4" type="title"/>
          </p:nvPr>
        </p:nvSpPr>
        <p:spPr>
          <a:xfrm>
            <a:off x="4996800" y="3536543"/>
            <a:ext cx="31593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7" name="Google Shape;107;p26"/>
          <p:cNvSpPr txBox="1"/>
          <p:nvPr>
            <p:ph idx="5" type="subTitle"/>
          </p:nvPr>
        </p:nvSpPr>
        <p:spPr>
          <a:xfrm>
            <a:off x="4911000" y="4140550"/>
            <a:ext cx="3330900" cy="4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Six Columns  ">
  <p:cSld name="SECTION_TITLE_AND_DESCRIPTION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7"/>
          <p:cNvSpPr txBox="1"/>
          <p:nvPr>
            <p:ph type="title"/>
          </p:nvPr>
        </p:nvSpPr>
        <p:spPr>
          <a:xfrm>
            <a:off x="3538497" y="1818541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0" name="Google Shape;110;p27"/>
          <p:cNvSpPr txBox="1"/>
          <p:nvPr>
            <p:ph idx="1" type="subTitle"/>
          </p:nvPr>
        </p:nvSpPr>
        <p:spPr>
          <a:xfrm>
            <a:off x="3538498" y="2324765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1" name="Google Shape;111;p27"/>
          <p:cNvSpPr txBox="1"/>
          <p:nvPr>
            <p:ph idx="2" type="title"/>
          </p:nvPr>
        </p:nvSpPr>
        <p:spPr>
          <a:xfrm>
            <a:off x="6028553" y="1818541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2" name="Google Shape;112;p27"/>
          <p:cNvSpPr txBox="1"/>
          <p:nvPr>
            <p:ph idx="3" type="subTitle"/>
          </p:nvPr>
        </p:nvSpPr>
        <p:spPr>
          <a:xfrm>
            <a:off x="6028552" y="2324765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3" name="Google Shape;113;p27"/>
          <p:cNvSpPr txBox="1"/>
          <p:nvPr>
            <p:ph idx="4"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4" name="Google Shape;114;p27"/>
          <p:cNvSpPr txBox="1"/>
          <p:nvPr>
            <p:ph idx="5" type="title"/>
          </p:nvPr>
        </p:nvSpPr>
        <p:spPr>
          <a:xfrm>
            <a:off x="1048447" y="1818541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5" name="Google Shape;115;p27"/>
          <p:cNvSpPr txBox="1"/>
          <p:nvPr>
            <p:ph idx="6" type="subTitle"/>
          </p:nvPr>
        </p:nvSpPr>
        <p:spPr>
          <a:xfrm>
            <a:off x="1048450" y="2324765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6" name="Google Shape;116;p27"/>
          <p:cNvSpPr txBox="1"/>
          <p:nvPr>
            <p:ph idx="7" type="title"/>
          </p:nvPr>
        </p:nvSpPr>
        <p:spPr>
          <a:xfrm>
            <a:off x="3538497" y="332503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7" name="Google Shape;117;p27"/>
          <p:cNvSpPr txBox="1"/>
          <p:nvPr>
            <p:ph idx="8" type="subTitle"/>
          </p:nvPr>
        </p:nvSpPr>
        <p:spPr>
          <a:xfrm>
            <a:off x="3538498" y="3831259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8" name="Google Shape;118;p27"/>
          <p:cNvSpPr txBox="1"/>
          <p:nvPr>
            <p:ph idx="9" type="title"/>
          </p:nvPr>
        </p:nvSpPr>
        <p:spPr>
          <a:xfrm>
            <a:off x="6028553" y="332503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9" name="Google Shape;119;p27"/>
          <p:cNvSpPr txBox="1"/>
          <p:nvPr>
            <p:ph idx="13" type="subTitle"/>
          </p:nvPr>
        </p:nvSpPr>
        <p:spPr>
          <a:xfrm>
            <a:off x="6028552" y="3831259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0" name="Google Shape;120;p27"/>
          <p:cNvSpPr txBox="1"/>
          <p:nvPr>
            <p:ph idx="14" type="title"/>
          </p:nvPr>
        </p:nvSpPr>
        <p:spPr>
          <a:xfrm>
            <a:off x="1048447" y="332503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1" name="Google Shape;121;p27"/>
          <p:cNvSpPr txBox="1"/>
          <p:nvPr>
            <p:ph idx="15" type="subTitle"/>
          </p:nvPr>
        </p:nvSpPr>
        <p:spPr>
          <a:xfrm>
            <a:off x="1048450" y="3831259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Four Columns 1">
  <p:cSld name="TITLE_1_1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8"/>
          <p:cNvSpPr txBox="1"/>
          <p:nvPr>
            <p:ph type="title"/>
          </p:nvPr>
        </p:nvSpPr>
        <p:spPr>
          <a:xfrm>
            <a:off x="938500" y="445025"/>
            <a:ext cx="50436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4" name="Google Shape;124;p28"/>
          <p:cNvSpPr txBox="1"/>
          <p:nvPr>
            <p:ph idx="2" type="title"/>
          </p:nvPr>
        </p:nvSpPr>
        <p:spPr>
          <a:xfrm>
            <a:off x="1338238" y="2359825"/>
            <a:ext cx="2727600" cy="3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5" name="Google Shape;125;p28"/>
          <p:cNvSpPr txBox="1"/>
          <p:nvPr>
            <p:ph idx="1" type="subTitle"/>
          </p:nvPr>
        </p:nvSpPr>
        <p:spPr>
          <a:xfrm>
            <a:off x="1338238" y="1713051"/>
            <a:ext cx="2727600" cy="6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28"/>
          <p:cNvSpPr txBox="1"/>
          <p:nvPr>
            <p:ph idx="3" type="title"/>
          </p:nvPr>
        </p:nvSpPr>
        <p:spPr>
          <a:xfrm>
            <a:off x="1338238" y="3988950"/>
            <a:ext cx="2727600" cy="3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7" name="Google Shape;127;p28"/>
          <p:cNvSpPr txBox="1"/>
          <p:nvPr>
            <p:ph idx="4" type="subTitle"/>
          </p:nvPr>
        </p:nvSpPr>
        <p:spPr>
          <a:xfrm>
            <a:off x="1338238" y="3342176"/>
            <a:ext cx="2727600" cy="6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" name="Google Shape;128;p28"/>
          <p:cNvSpPr txBox="1"/>
          <p:nvPr>
            <p:ph idx="5" type="title"/>
          </p:nvPr>
        </p:nvSpPr>
        <p:spPr>
          <a:xfrm>
            <a:off x="5078163" y="2359825"/>
            <a:ext cx="2727600" cy="3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9" name="Google Shape;129;p28"/>
          <p:cNvSpPr txBox="1"/>
          <p:nvPr>
            <p:ph idx="6" type="subTitle"/>
          </p:nvPr>
        </p:nvSpPr>
        <p:spPr>
          <a:xfrm>
            <a:off x="5078163" y="1713051"/>
            <a:ext cx="2727600" cy="6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0" name="Google Shape;130;p28"/>
          <p:cNvSpPr txBox="1"/>
          <p:nvPr>
            <p:ph idx="7" type="title"/>
          </p:nvPr>
        </p:nvSpPr>
        <p:spPr>
          <a:xfrm>
            <a:off x="5078163" y="3988950"/>
            <a:ext cx="2727600" cy="3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1" name="Google Shape;131;p28"/>
          <p:cNvSpPr txBox="1"/>
          <p:nvPr>
            <p:ph idx="8" type="subTitle"/>
          </p:nvPr>
        </p:nvSpPr>
        <p:spPr>
          <a:xfrm>
            <a:off x="5078163" y="3342176"/>
            <a:ext cx="2727600" cy="6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">
  <p:cSld name="SECTION_TITLE_AND_DESCRIPTION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9"/>
          <p:cNvSpPr txBox="1"/>
          <p:nvPr>
            <p:ph idx="1" type="subTitle"/>
          </p:nvPr>
        </p:nvSpPr>
        <p:spPr>
          <a:xfrm>
            <a:off x="5817050" y="2435925"/>
            <a:ext cx="2556300" cy="20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" name="Google Shape;134;p29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1">
  <p:cSld name="TITLE_ONLY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0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7" name="Google Shape;137;p30"/>
          <p:cNvSpPr txBox="1"/>
          <p:nvPr>
            <p:ph idx="1" type="subTitle"/>
          </p:nvPr>
        </p:nvSpPr>
        <p:spPr>
          <a:xfrm>
            <a:off x="938500" y="2435925"/>
            <a:ext cx="2556300" cy="20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2">
  <p:cSld name="CAPTION_ONLY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/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0" name="Google Shape;140;p31"/>
          <p:cNvSpPr txBox="1"/>
          <p:nvPr>
            <p:ph idx="1" type="subTitle"/>
          </p:nvPr>
        </p:nvSpPr>
        <p:spPr>
          <a:xfrm>
            <a:off x="5817050" y="2435925"/>
            <a:ext cx="2556300" cy="20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">
  <p:cSld name="SECTION_HEADER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2"/>
          <p:cNvSpPr txBox="1"/>
          <p:nvPr>
            <p:ph type="title"/>
          </p:nvPr>
        </p:nvSpPr>
        <p:spPr>
          <a:xfrm>
            <a:off x="2062800" y="2442050"/>
            <a:ext cx="5018400" cy="59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3" name="Google Shape;143;p32"/>
          <p:cNvSpPr txBox="1"/>
          <p:nvPr>
            <p:ph idx="1" type="subTitle"/>
          </p:nvPr>
        </p:nvSpPr>
        <p:spPr>
          <a:xfrm>
            <a:off x="2896500" y="3391325"/>
            <a:ext cx="3351000" cy="11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 + Credits">
  <p:cSld name="SECTION_HEAD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3"/>
          <p:cNvSpPr txBox="1"/>
          <p:nvPr>
            <p:ph type="title"/>
          </p:nvPr>
        </p:nvSpPr>
        <p:spPr>
          <a:xfrm>
            <a:off x="924870" y="760375"/>
            <a:ext cx="3068700" cy="59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6" name="Google Shape;146;p33"/>
          <p:cNvSpPr txBox="1"/>
          <p:nvPr>
            <p:ph idx="1" type="subTitle"/>
          </p:nvPr>
        </p:nvSpPr>
        <p:spPr>
          <a:xfrm>
            <a:off x="924875" y="1684275"/>
            <a:ext cx="3305400" cy="10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47" name="Google Shape;147;p33"/>
          <p:cNvSpPr txBox="1"/>
          <p:nvPr/>
        </p:nvSpPr>
        <p:spPr>
          <a:xfrm>
            <a:off x="924875" y="3570000"/>
            <a:ext cx="33054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CREDITS: This presentation template was created by </a:t>
            </a:r>
            <a:r>
              <a:rPr lang="en" sz="1000">
                <a:solidFill>
                  <a:schemeClr val="accent1"/>
                </a:solidFill>
                <a:uFill>
                  <a:noFill/>
                </a:uFill>
                <a:latin typeface="Montserrat Medium"/>
                <a:ea typeface="Montserrat Medium"/>
                <a:cs typeface="Montserrat Medium"/>
                <a:sym typeface="Montserrat Mediu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including icons by </a:t>
            </a:r>
            <a:r>
              <a:rPr lang="en" sz="1000">
                <a:solidFill>
                  <a:schemeClr val="accent1"/>
                </a:solidFill>
                <a:uFill>
                  <a:noFill/>
                </a:uFill>
                <a:latin typeface="Montserrat Medium"/>
                <a:ea typeface="Montserrat Medium"/>
                <a:cs typeface="Montserrat Medium"/>
                <a:sym typeface="Montserrat Mediu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and infographics &amp; images by </a:t>
            </a:r>
            <a:r>
              <a:rPr lang="en" sz="1000">
                <a:solidFill>
                  <a:schemeClr val="accent1"/>
                </a:solidFill>
                <a:uFill>
                  <a:noFill/>
                </a:uFill>
                <a:latin typeface="Montserrat Medium"/>
                <a:ea typeface="Montserrat Medium"/>
                <a:cs typeface="Montserrat Medium"/>
                <a:sym typeface="Montserrat Medium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 </a:t>
            </a:r>
            <a:endParaRPr sz="1000">
              <a:solidFill>
                <a:schemeClr val="accen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accen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ullet points 1">
  <p:cSld name="SECTION_TITLE_AND_DESCRIPTION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4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0" name="Google Shape;150;p34"/>
          <p:cNvSpPr txBox="1"/>
          <p:nvPr>
            <p:ph idx="1" type="body"/>
          </p:nvPr>
        </p:nvSpPr>
        <p:spPr>
          <a:xfrm>
            <a:off x="938500" y="1659275"/>
            <a:ext cx="4946400" cy="27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list">
  <p:cSld name="TITLE_AND_TWO_COLUMNS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5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3" name="Google Shape;153;p35"/>
          <p:cNvSpPr txBox="1"/>
          <p:nvPr>
            <p:ph idx="1" type="body"/>
          </p:nvPr>
        </p:nvSpPr>
        <p:spPr>
          <a:xfrm>
            <a:off x="5037525" y="1659275"/>
            <a:ext cx="3186900" cy="27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 sz="2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5.png"/><Relationship Id="rId4" Type="http://schemas.openxmlformats.org/officeDocument/2006/relationships/image" Target="../media/image3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5.jpg"/><Relationship Id="rId4" Type="http://schemas.openxmlformats.org/officeDocument/2006/relationships/image" Target="../media/image3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.png"/><Relationship Id="rId4" Type="http://schemas.openxmlformats.org/officeDocument/2006/relationships/image" Target="../media/image3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9.jpg"/><Relationship Id="rId4" Type="http://schemas.openxmlformats.org/officeDocument/2006/relationships/image" Target="../media/image3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6"/>
          <p:cNvSpPr txBox="1"/>
          <p:nvPr>
            <p:ph type="ctrTitle"/>
          </p:nvPr>
        </p:nvSpPr>
        <p:spPr>
          <a:xfrm>
            <a:off x="2175900" y="1819675"/>
            <a:ext cx="4792200" cy="1228800"/>
          </a:xfrm>
          <a:prstGeom prst="rect">
            <a:avLst/>
          </a:prstGeom>
          <a:effectLst>
            <a:outerShdw blurRad="142875" rotWithShape="0" algn="bl" dir="8760000" dist="19050">
              <a:srgbClr val="76A5AF">
                <a:alpha val="50000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Proyecto Propiedades R.M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36"/>
          <p:cNvSpPr txBox="1"/>
          <p:nvPr>
            <p:ph idx="1" type="subTitle"/>
          </p:nvPr>
        </p:nvSpPr>
        <p:spPr>
          <a:xfrm>
            <a:off x="5365500" y="3692550"/>
            <a:ext cx="2763000" cy="11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Brad Bayuelo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Gaspar Castillo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Joaquín Donoso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Alonso Neira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36"/>
          <p:cNvSpPr txBox="1"/>
          <p:nvPr>
            <p:ph type="ctrTitle"/>
          </p:nvPr>
        </p:nvSpPr>
        <p:spPr>
          <a:xfrm>
            <a:off x="2366925" y="2925175"/>
            <a:ext cx="4214400" cy="592800"/>
          </a:xfrm>
          <a:prstGeom prst="rect">
            <a:avLst/>
          </a:prstGeom>
          <a:effectLst>
            <a:outerShdw blurRad="100013" rotWithShape="0" algn="bl" dir="8460000" dist="19050">
              <a:srgbClr val="76A5AF">
                <a:alpha val="50000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latin typeface="Montserrat ExtraLight"/>
                <a:ea typeface="Montserrat ExtraLight"/>
                <a:cs typeface="Montserrat ExtraLight"/>
                <a:sym typeface="Montserrat ExtraLight"/>
              </a:rPr>
              <a:t>Análisis sobre la variación de precios de propiedades en la Región Metropolitana</a:t>
            </a:r>
            <a:endParaRPr b="0" sz="1200">
              <a:latin typeface="Montserrat ExtraLight"/>
              <a:ea typeface="Montserrat ExtraLight"/>
              <a:cs typeface="Montserrat ExtraLight"/>
              <a:sym typeface="Montserrat ExtraLight"/>
            </a:endParaRPr>
          </a:p>
        </p:txBody>
      </p:sp>
      <p:cxnSp>
        <p:nvCxnSpPr>
          <p:cNvPr id="161" name="Google Shape;161;p36"/>
          <p:cNvCxnSpPr/>
          <p:nvPr/>
        </p:nvCxnSpPr>
        <p:spPr>
          <a:xfrm>
            <a:off x="3092625" y="2499947"/>
            <a:ext cx="2763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FFFFFF">
                <a:alpha val="50000"/>
              </a:srgbClr>
            </a:outerShdw>
          </a:effectLst>
        </p:spPr>
      </p:cxnSp>
      <p:sp>
        <p:nvSpPr>
          <p:cNvPr id="162" name="Google Shape;162;p36"/>
          <p:cNvSpPr txBox="1"/>
          <p:nvPr/>
        </p:nvSpPr>
        <p:spPr>
          <a:xfrm>
            <a:off x="474425" y="416325"/>
            <a:ext cx="3534000" cy="7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Profesor CRISTIAN ORLANDO GARCIA 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7"/>
          <p:cNvSpPr txBox="1"/>
          <p:nvPr>
            <p:ph type="title"/>
          </p:nvPr>
        </p:nvSpPr>
        <p:spPr>
          <a:xfrm>
            <a:off x="774500" y="587088"/>
            <a:ext cx="7341900" cy="124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CONTEXTO: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El mercado de viviendas de la RM de Chile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68" name="Google Shape;168;p37"/>
          <p:cNvSpPr txBox="1"/>
          <p:nvPr>
            <p:ph idx="1" type="body"/>
          </p:nvPr>
        </p:nvSpPr>
        <p:spPr>
          <a:xfrm>
            <a:off x="496150" y="2009050"/>
            <a:ext cx="7704900" cy="21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3375" lvl="0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50"/>
              <a:buChar char="●"/>
            </a:pPr>
            <a:r>
              <a:rPr b="1" lang="en" sz="1650"/>
              <a:t>Se desea estudiar cómo varían los precios de una propiedad según distintos factores y sectores de la RM.</a:t>
            </a:r>
            <a:endParaRPr b="1" sz="1650"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50"/>
          </a:p>
          <a:p>
            <a:pPr indent="-333375" lvl="0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50"/>
              <a:buChar char="●"/>
            </a:pPr>
            <a:r>
              <a:rPr b="1" lang="en" sz="1650"/>
              <a:t>El objetivo es identificar qué factores influyen más en el precio final, y cómo esa influencia cambia entre sectores.</a:t>
            </a:r>
            <a:endParaRPr b="1" sz="16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9" name="Google Shape;169;p37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FFFFFF">
                <a:alpha val="50000"/>
              </a:srgbClr>
            </a:outerShdw>
          </a:effectLst>
        </p:spPr>
      </p:cxnSp>
      <p:sp>
        <p:nvSpPr>
          <p:cNvPr id="170" name="Google Shape;170;p37"/>
          <p:cNvSpPr txBox="1"/>
          <p:nvPr/>
        </p:nvSpPr>
        <p:spPr>
          <a:xfrm>
            <a:off x="938500" y="4221950"/>
            <a:ext cx="6820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150">
              <a:solidFill>
                <a:schemeClr val="accent2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8"/>
          <p:cNvSpPr txBox="1"/>
          <p:nvPr>
            <p:ph type="title"/>
          </p:nvPr>
        </p:nvSpPr>
        <p:spPr>
          <a:xfrm>
            <a:off x="0" y="52100"/>
            <a:ext cx="3687000" cy="66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Listado de Datos 1</a:t>
            </a:r>
            <a:endParaRPr sz="2400"/>
          </a:p>
        </p:txBody>
      </p:sp>
      <p:pic>
        <p:nvPicPr>
          <p:cNvPr id="176" name="Google Shape;176;p38"/>
          <p:cNvPicPr preferRelativeResize="0"/>
          <p:nvPr/>
        </p:nvPicPr>
        <p:blipFill rotWithShape="1">
          <a:blip r:embed="rId3">
            <a:alphaModFix/>
          </a:blip>
          <a:srcRect b="0" l="0" r="2572" t="0"/>
          <a:stretch/>
        </p:blipFill>
        <p:spPr>
          <a:xfrm>
            <a:off x="818075" y="1849200"/>
            <a:ext cx="7507852" cy="329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38"/>
          <p:cNvSpPr txBox="1"/>
          <p:nvPr>
            <p:ph idx="4294967295" type="subTitle"/>
          </p:nvPr>
        </p:nvSpPr>
        <p:spPr>
          <a:xfrm>
            <a:off x="122900" y="610825"/>
            <a:ext cx="5438400" cy="118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Los datos en la tabla corresponden a un extracto de las comunas, junto con su precio por m², siendo las 5 más caras y las 5 más baratas.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9"/>
          <p:cNvSpPr txBox="1"/>
          <p:nvPr/>
        </p:nvSpPr>
        <p:spPr>
          <a:xfrm>
            <a:off x="184350" y="130575"/>
            <a:ext cx="3333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Gráfico de Barras:</a:t>
            </a:r>
            <a:endParaRPr sz="2400">
              <a:solidFill>
                <a:schemeClr val="lt2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83" name="Google Shape;183;p39"/>
          <p:cNvSpPr txBox="1"/>
          <p:nvPr>
            <p:ph idx="1" type="subTitle"/>
          </p:nvPr>
        </p:nvSpPr>
        <p:spPr>
          <a:xfrm>
            <a:off x="184350" y="1079400"/>
            <a:ext cx="3525900" cy="21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El gráfico muestra el precio </a:t>
            </a:r>
            <a:r>
              <a:rPr b="1" lang="en">
                <a:solidFill>
                  <a:schemeClr val="lt1"/>
                </a:solidFill>
              </a:rPr>
              <a:t>p</a:t>
            </a:r>
            <a:r>
              <a:rPr b="1" lang="en">
                <a:solidFill>
                  <a:schemeClr val="lt1"/>
                </a:solidFill>
              </a:rPr>
              <a:t>romedio por m² de una vivienda en cada comuna de la Región Metropolitana, ordenado desde menor a mayor precio.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184" name="Google Shape;18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5712" y="1"/>
            <a:ext cx="537828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0"/>
          <p:cNvSpPr txBox="1"/>
          <p:nvPr>
            <p:ph idx="4294967295" type="title"/>
          </p:nvPr>
        </p:nvSpPr>
        <p:spPr>
          <a:xfrm>
            <a:off x="0" y="52100"/>
            <a:ext cx="3687000" cy="66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2"/>
                </a:solidFill>
              </a:rPr>
              <a:t>Listado de Datos 2</a:t>
            </a:r>
            <a:endParaRPr sz="2400">
              <a:solidFill>
                <a:schemeClr val="lt2"/>
              </a:solidFill>
            </a:endParaRPr>
          </a:p>
        </p:txBody>
      </p:sp>
      <p:pic>
        <p:nvPicPr>
          <p:cNvPr id="190" name="Google Shape;190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980700"/>
            <a:ext cx="8839201" cy="310799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40"/>
          <p:cNvSpPr txBox="1"/>
          <p:nvPr>
            <p:ph idx="1" type="subTitle"/>
          </p:nvPr>
        </p:nvSpPr>
        <p:spPr>
          <a:xfrm>
            <a:off x="122900" y="610825"/>
            <a:ext cx="8019300" cy="163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</a:rPr>
              <a:t>Los datos en la tabla muestran el promedio de precio por rango de estacionamientos, según su rango de estacionamientos (0, 1-2, 3-4, 5), en cada Sector.</a:t>
            </a:r>
            <a:endParaRPr b="1" sz="1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1"/>
          <p:cNvSpPr txBox="1"/>
          <p:nvPr/>
        </p:nvSpPr>
        <p:spPr>
          <a:xfrm>
            <a:off x="184350" y="130575"/>
            <a:ext cx="425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Gráficos de Líneas:</a:t>
            </a:r>
            <a:endParaRPr b="1" sz="24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7" name="Google Shape;197;p41"/>
          <p:cNvSpPr txBox="1"/>
          <p:nvPr>
            <p:ph idx="1" type="subTitle"/>
          </p:nvPr>
        </p:nvSpPr>
        <p:spPr>
          <a:xfrm>
            <a:off x="184350" y="1286800"/>
            <a:ext cx="3641100" cy="23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Los datos muestran cómo cambia el Precio Promedio de una propiedad según la Cantidad de Estacionamientos, agrupados por Sector.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198" name="Google Shape;198;p41"/>
          <p:cNvPicPr preferRelativeResize="0"/>
          <p:nvPr/>
        </p:nvPicPr>
        <p:blipFill rotWithShape="1">
          <a:blip r:embed="rId3">
            <a:alphaModFix/>
          </a:blip>
          <a:srcRect b="0" l="0" r="1672" t="0"/>
          <a:stretch/>
        </p:blipFill>
        <p:spPr>
          <a:xfrm>
            <a:off x="4625008" y="0"/>
            <a:ext cx="4518991" cy="34957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25008" y="3495756"/>
            <a:ext cx="4518990" cy="1647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25" y="2205979"/>
            <a:ext cx="9144000" cy="293752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42"/>
          <p:cNvSpPr txBox="1"/>
          <p:nvPr>
            <p:ph idx="4294967295" type="title"/>
          </p:nvPr>
        </p:nvSpPr>
        <p:spPr>
          <a:xfrm>
            <a:off x="0" y="52100"/>
            <a:ext cx="3687000" cy="66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2"/>
                </a:solidFill>
              </a:rPr>
              <a:t>Listado de Datos 3</a:t>
            </a:r>
            <a:endParaRPr sz="2400">
              <a:solidFill>
                <a:schemeClr val="lt2"/>
              </a:solidFill>
            </a:endParaRPr>
          </a:p>
        </p:txBody>
      </p:sp>
      <p:sp>
        <p:nvSpPr>
          <p:cNvPr id="206" name="Google Shape;206;p42"/>
          <p:cNvSpPr txBox="1"/>
          <p:nvPr>
            <p:ph idx="1" type="subTitle"/>
          </p:nvPr>
        </p:nvSpPr>
        <p:spPr>
          <a:xfrm>
            <a:off x="122900" y="610825"/>
            <a:ext cx="5438400" cy="163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Los datos presentes en la tabla nos indican el valor promedio y la mediana de las propiedades dependiendo el sector en el que se encuentran, también se indica la cantidad de propiedades que se encuentran disponibles a la venta en el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43"/>
          <p:cNvSpPr txBox="1"/>
          <p:nvPr>
            <p:ph type="title"/>
          </p:nvPr>
        </p:nvSpPr>
        <p:spPr>
          <a:xfrm>
            <a:off x="938500" y="445025"/>
            <a:ext cx="32238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Grafico de dispersión</a:t>
            </a:r>
            <a:r>
              <a:rPr lang="en"/>
              <a:t>:</a:t>
            </a:r>
            <a:endParaRPr/>
          </a:p>
        </p:txBody>
      </p:sp>
      <p:pic>
        <p:nvPicPr>
          <p:cNvPr id="212" name="Google Shape;212;p43"/>
          <p:cNvPicPr preferRelativeResize="0"/>
          <p:nvPr/>
        </p:nvPicPr>
        <p:blipFill rotWithShape="1">
          <a:blip r:embed="rId3">
            <a:alphaModFix/>
          </a:blip>
          <a:srcRect b="0" l="5794" r="0" t="0"/>
          <a:stretch/>
        </p:blipFill>
        <p:spPr>
          <a:xfrm>
            <a:off x="3993549" y="0"/>
            <a:ext cx="5150450" cy="3513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43"/>
          <p:cNvPicPr preferRelativeResize="0"/>
          <p:nvPr/>
        </p:nvPicPr>
        <p:blipFill rotWithShape="1">
          <a:blip r:embed="rId4">
            <a:alphaModFix/>
          </a:blip>
          <a:srcRect b="0" l="0" r="2629" t="0"/>
          <a:stretch/>
        </p:blipFill>
        <p:spPr>
          <a:xfrm>
            <a:off x="3993549" y="3513021"/>
            <a:ext cx="5150447" cy="163047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43"/>
          <p:cNvSpPr txBox="1"/>
          <p:nvPr/>
        </p:nvSpPr>
        <p:spPr>
          <a:xfrm>
            <a:off x="128725" y="1609800"/>
            <a:ext cx="3709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Aquí </a:t>
            </a:r>
            <a:r>
              <a:rPr b="1" lang="en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podemos apreciar la variación en la densidad de los precios entre comunas.</a:t>
            </a:r>
            <a:endParaRPr b="1"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4"/>
          <p:cNvSpPr txBox="1"/>
          <p:nvPr>
            <p:ph type="title"/>
          </p:nvPr>
        </p:nvSpPr>
        <p:spPr>
          <a:xfrm>
            <a:off x="938500" y="445025"/>
            <a:ext cx="67248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Los Datos de los listados y gráficos se envían desde las vistas de Django a las plantillas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HTML.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0" name="Google Shape;220;p44" title="Captura de pantalla 2026-10-25 231116.png"/>
          <p:cNvPicPr preferRelativeResize="0"/>
          <p:nvPr/>
        </p:nvPicPr>
        <p:blipFill rotWithShape="1">
          <a:blip r:embed="rId3">
            <a:alphaModFix/>
          </a:blip>
          <a:srcRect b="0" l="0" r="10961" t="0"/>
          <a:stretch/>
        </p:blipFill>
        <p:spPr>
          <a:xfrm>
            <a:off x="4719275" y="1095975"/>
            <a:ext cx="4424725" cy="149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44" title="Captura de pantalla 2026-10-25 23135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209445"/>
            <a:ext cx="4566877" cy="2781654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44"/>
          <p:cNvSpPr txBox="1"/>
          <p:nvPr/>
        </p:nvSpPr>
        <p:spPr>
          <a:xfrm>
            <a:off x="4875850" y="2800425"/>
            <a:ext cx="37092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Cada gráfico y tablas de datos se generan en views.py, para luego ser enviados a las plantillas HTML.</a:t>
            </a:r>
            <a:endParaRPr b="1"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5"/>
          <p:cNvSpPr txBox="1"/>
          <p:nvPr>
            <p:ph idx="1" type="subTitle"/>
          </p:nvPr>
        </p:nvSpPr>
        <p:spPr>
          <a:xfrm>
            <a:off x="214350" y="1327350"/>
            <a:ext cx="3223800" cy="145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En este </a:t>
            </a:r>
            <a:r>
              <a:rPr lang="en">
                <a:solidFill>
                  <a:schemeClr val="lt1"/>
                </a:solidFill>
              </a:rPr>
              <a:t>gráfico</a:t>
            </a:r>
            <a:r>
              <a:rPr lang="en">
                <a:solidFill>
                  <a:schemeClr val="lt1"/>
                </a:solidFill>
              </a:rPr>
              <a:t> podemos visualizar de manera libre todas las zonas que se encuentran disponibles en el dataset, se pueden ver los precios promedio por zona</a:t>
            </a:r>
            <a:r>
              <a:rPr lang="en">
                <a:solidFill>
                  <a:schemeClr val="lt1"/>
                </a:solidFill>
              </a:rPr>
              <a:t> y la cantidad de propiedades disponibles en esta</a:t>
            </a:r>
            <a:r>
              <a:rPr lang="en">
                <a:solidFill>
                  <a:schemeClr val="lt1"/>
                </a:solidFill>
              </a:rPr>
              <a:t>.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28" name="Google Shape;228;p45"/>
          <p:cNvSpPr txBox="1"/>
          <p:nvPr>
            <p:ph type="title"/>
          </p:nvPr>
        </p:nvSpPr>
        <p:spPr>
          <a:xfrm>
            <a:off x="563950" y="326275"/>
            <a:ext cx="32238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Grafico interactivo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 las zonas</a:t>
            </a:r>
            <a:endParaRPr/>
          </a:p>
        </p:txBody>
      </p:sp>
      <p:pic>
        <p:nvPicPr>
          <p:cNvPr id="229" name="Google Shape;229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3675" y="33925"/>
            <a:ext cx="4934050" cy="31144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98100" y="3148351"/>
            <a:ext cx="6119616" cy="189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6"/>
          <p:cNvSpPr txBox="1"/>
          <p:nvPr>
            <p:ph type="title"/>
          </p:nvPr>
        </p:nvSpPr>
        <p:spPr>
          <a:xfrm>
            <a:off x="938500" y="445025"/>
            <a:ext cx="4629300" cy="6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Conclusión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46"/>
          <p:cNvSpPr txBox="1"/>
          <p:nvPr>
            <p:ph idx="1" type="body"/>
          </p:nvPr>
        </p:nvSpPr>
        <p:spPr>
          <a:xfrm>
            <a:off x="732775" y="1489850"/>
            <a:ext cx="6591600" cy="27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 finalizar, la mayoría de nuestros hallazgos eran esperables.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Encontramos que, en general, lo que más afecta el precio de una propiedad es su ubicación.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La mayor limitación fue la limpieza de datos, que se observa más claramente al observar los gráficos de estacionamientos.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cxnSp>
        <p:nvCxnSpPr>
          <p:cNvPr id="237" name="Google Shape;237;p46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7"/>
          <p:cNvSpPr txBox="1"/>
          <p:nvPr>
            <p:ph idx="4" type="title"/>
          </p:nvPr>
        </p:nvSpPr>
        <p:spPr>
          <a:xfrm>
            <a:off x="938500" y="445025"/>
            <a:ext cx="4629300" cy="7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Bibliografia: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3" name="Google Shape;243;p47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FFFFFF">
                <a:alpha val="50000"/>
              </a:srgbClr>
            </a:outerShdw>
          </a:effectLst>
        </p:spPr>
      </p:cxnSp>
      <p:sp>
        <p:nvSpPr>
          <p:cNvPr id="244" name="Google Shape;244;p47"/>
          <p:cNvSpPr txBox="1"/>
          <p:nvPr/>
        </p:nvSpPr>
        <p:spPr>
          <a:xfrm>
            <a:off x="885950" y="1417275"/>
            <a:ext cx="7394400" cy="27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Mapa Comunas:  fcortes.(s. f.). Chile-GeoJSON: comunas.geojson [Archivo GeoJSON]. GitHub.  https://github.com/fcortes/Chile-GeoJSON/blob/master/comunas.geojson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Dataset: Luisfelipetn.(2023).Valor casas usadas Chile RM 08/03/2023 [Conjunto de datos].https://www.kaggle.com/datasets/luisfelipetn/valor-casas-usadas-chile-rm-08032023/data?select=2023-03-08+Precios+Casas+RM.csv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uturistic Background by Slidesgo">
  <a:themeElements>
    <a:clrScheme name="Simple Light">
      <a:dk1>
        <a:srgbClr val="001633"/>
      </a:dk1>
      <a:lt1>
        <a:srgbClr val="FFFFFF"/>
      </a:lt1>
      <a:dk2>
        <a:srgbClr val="85D5E6"/>
      </a:dk2>
      <a:lt2>
        <a:srgbClr val="FFAB40"/>
      </a:lt2>
      <a:accent1>
        <a:srgbClr val="FFAB40"/>
      </a:accent1>
      <a:accent2>
        <a:srgbClr val="85D5E6"/>
      </a:accent2>
      <a:accent3>
        <a:srgbClr val="78909C"/>
      </a:accent3>
      <a:accent4>
        <a:srgbClr val="FFAB40"/>
      </a:accent4>
      <a:accent5>
        <a:srgbClr val="0097A7"/>
      </a:accent5>
      <a:accent6>
        <a:srgbClr val="001633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